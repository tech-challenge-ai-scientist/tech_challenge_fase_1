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roxima Nova Bold" charset="1" panose="02000506030000020004"/>
      <p:regular r:id="rId25"/>
    </p:embeddedFont>
    <p:embeddedFont>
      <p:font typeface="Proxima Nova" charset="1" panose="02000506030000020004"/>
      <p:regular r:id="rId26"/>
    </p:embeddedFont>
    <p:embeddedFont>
      <p:font typeface="Proxima Nova Heavy" charset="1" panose="02000506030000020004"/>
      <p:regular r:id="rId28"/>
    </p:embeddedFont>
    <p:embeddedFont>
      <p:font typeface="Raleway Bold" charset="1" panose="00000000000000000000"/>
      <p:regular r:id="rId30"/>
    </p:embeddedFont>
    <p:embeddedFont>
      <p:font typeface="Raleway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Olá. me chamo Gustavo Semenuk e irei apresentar hoje a vocês a nossa análise sobre uma dor do negócio de devemos ter atenção.</a:t>
            </a:r>
          </a:p>
          <a:p>
            <a:r>
              <a:rPr lang="en-US"/>
              <a:t/>
            </a:r>
          </a:p>
          <a:p>
            <a:r>
              <a:rPr lang="en-US"/>
              <a:t>Nessa apresentação irei abordar com maiores detalhes o problema, os insights que tivemos, tal como nossa recomendação para conter e resolver essa dor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dor queremos abordar se baseia nessa grande questão: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Quais são os principais fatores que afetam o NPS do cliente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Trazendo um pouco de contexto do mercado sobre o problema e a influencia dele positivamente e negativamente para o negócio.</a:t>
            </a:r>
          </a:p>
          <a:p>
            <a:r>
              <a:rPr lang="en-US"/>
              <a:t/>
            </a:r>
          </a:p>
          <a:p>
            <a:r>
              <a:rPr lang="en-US"/>
              <a:t>Segundo pesquisas:</a:t>
            </a:r>
          </a:p>
          <a:p>
            <a:r>
              <a:rPr lang="en-US"/>
              <a:t/>
            </a:r>
          </a:p>
          <a:p>
            <a:r>
              <a:rPr lang="en-US"/>
              <a:t>Influenciam Positivamente</a:t>
            </a:r>
          </a:p>
          <a:p>
            <a:r>
              <a:rPr lang="en-US"/>
              <a:t/>
            </a:r>
          </a:p>
          <a:p>
            <a:r>
              <a:rPr lang="en-US"/>
              <a:t>40%</a:t>
            </a:r>
          </a:p>
          <a:p>
            <a:r>
              <a:rPr lang="en-US"/>
              <a:t/>
            </a:r>
          </a:p>
          <a:p>
            <a:r>
              <a:rPr lang="en-US"/>
              <a:t>72%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--------</a:t>
            </a:r>
          </a:p>
          <a:p>
            <a:r>
              <a:rPr lang="en-US"/>
              <a:t/>
            </a:r>
          </a:p>
          <a:p>
            <a:r>
              <a:rPr lang="en-US"/>
              <a:t>Influenciam Negativamente:</a:t>
            </a:r>
          </a:p>
          <a:p>
            <a:r>
              <a:rPr lang="en-US"/>
              <a:t/>
            </a:r>
          </a:p>
          <a:p>
            <a:r>
              <a:rPr lang="en-US"/>
              <a:t>22%</a:t>
            </a:r>
          </a:p>
          <a:p>
            <a:r>
              <a:rPr lang="en-US"/>
              <a:t/>
            </a:r>
          </a:p>
          <a:p>
            <a:r>
              <a:rPr lang="en-US"/>
              <a:t>9-12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 acordo com a nossa análise, elencamos as principais problemáticas para a satisfação dos nossos clientes.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Os principais impactos para a empresa são: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Dentro do estudo também observamos pontos mais específicos que causam impactos na satisfação do cliente.</a:t>
            </a:r>
          </a:p>
          <a:p>
            <a:r>
              <a:rPr lang="en-US"/>
              <a:t/>
            </a:r>
          </a:p>
          <a:p>
            <a:r>
              <a:rPr lang="en-US"/>
              <a:t>Os principais fatores positivadores.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Os principais negativadores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ilustrar melhor os fatores levantados anteriormente, vamos trazer em números reais o impacto de alguns deles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Dito tudo isso, uma outra pergunta foi levantada dentro do nosso estudo que é:</a:t>
            </a:r>
          </a:p>
          <a:p>
            <a:r>
              <a:rPr lang="en-US"/>
              <a:t/>
            </a:r>
          </a:p>
          <a:p>
            <a:r>
              <a:rPr lang="en-US"/>
              <a:t>Como eu posso saber quais clientes são potenciais detratores?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Trazendo alguns números dos resultados obtidos pela nossa solução: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Dentro do estudo observamos e levantamos algumas limitações e riscos da estratégia proposta que precisaria se revista ou mitigada para que possa se extrair o máximo da estratégia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Trazendo algumas recomendações direta e práticas extraídas dos insights que tivemos no estudo.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2508" y="2936219"/>
            <a:ext cx="11873584" cy="7858154"/>
          </a:xfrm>
          <a:custGeom>
            <a:avLst/>
            <a:gdLst/>
            <a:ahLst/>
            <a:cxnLst/>
            <a:rect r="r" b="b" t="t" l="l"/>
            <a:pathLst>
              <a:path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4289" y="4035218"/>
            <a:ext cx="10910544" cy="378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5"/>
              </a:lnSpc>
            </a:pPr>
            <a:r>
              <a:rPr lang="en-US" sz="13967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TECH CHALLENGE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9654" y="3226416"/>
            <a:ext cx="5309907" cy="60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4456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9654" y="8718317"/>
            <a:ext cx="6042642" cy="46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Scientist - 1IAST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9654" y="-734700"/>
            <a:ext cx="1660777" cy="1469400"/>
            <a:chOff x="0" y="0"/>
            <a:chExt cx="437406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14973" y="-734700"/>
            <a:ext cx="489701" cy="1469400"/>
            <a:chOff x="0" y="0"/>
            <a:chExt cx="128975" cy="3870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06320" y="3346091"/>
            <a:ext cx="14075359" cy="356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1"/>
              </a:lnSpc>
              <a:spcBef>
                <a:spcPct val="0"/>
              </a:spcBef>
            </a:pPr>
            <a:r>
              <a:rPr lang="en-US" b="true" sz="7706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QUAIS SÃO OS PRINCIPAIS FATORES QUE AFETAM O NPS DO CLIENTE?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88667" y="643511"/>
            <a:ext cx="8207439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</a:t>
            </a:r>
            <a:r>
              <a:rPr lang="en-US" b="true" sz="6500" strike="noStrike" u="none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 CONTEXTO DO 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782013"/>
            <a:ext cx="9211200" cy="611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No contexto do e-commerce, o NPS é especialmente relevante porque a jornada de compra online tem vários pontos de atrito potencial: velocidade do site, clareza das informações do produto, processo de checkout, prazo de entrega, qualidade do produto recebido e atendimento pós-venda. Cada um desses pontos pode ser a fonte de uma nota baixa, e identificar qual é o problema é o primeiro passo para corrigi-lo e reduzir os impactos ao negócio.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Lojas que monitoram NPS ativamente conseguem identificar e resolver problemas sistêmicos antes que eles se transformem em avaliações negativas públicas no Reclame Aqui ou nas avaliações do Google.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678252" y="1752043"/>
            <a:ext cx="1806044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FF2828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22</a:t>
            </a:r>
            <a:r>
              <a:rPr lang="en-US" b="true" sz="6999">
                <a:solidFill>
                  <a:srgbClr val="FF2828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9950" y="3729993"/>
            <a:ext cx="1833680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FF2828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9-12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39950" y="5774441"/>
            <a:ext cx="1882650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007A3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40%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9950" y="7421235"/>
            <a:ext cx="1959256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007A3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72</a:t>
            </a:r>
            <a:r>
              <a:rPr lang="en-US" b="true" sz="6999">
                <a:solidFill>
                  <a:srgbClr val="007A3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72862" y="1597281"/>
            <a:ext cx="4782982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Redução de até 22% da taxa de conversão de novos visitantes, quando uma única reclamação pública não é respondida.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9044" y="981075"/>
            <a:ext cx="438039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B4B4B4"/>
                </a:solidFill>
                <a:latin typeface="Raleway"/>
                <a:ea typeface="Raleway"/>
                <a:cs typeface="Raleway"/>
                <a:sym typeface="Raleway"/>
              </a:rPr>
              <a:t>Segundo pesquisa do Instituto IBRC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93994" y="3595691"/>
            <a:ext cx="4940718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Um cliente insatisfeito conta sua experiência ruim para uma média de 9 a 12 pessoas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19324" y="5165476"/>
            <a:ext cx="424719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B4B4B4"/>
                </a:solidFill>
                <a:latin typeface="Raleway"/>
                <a:ea typeface="Raleway"/>
                <a:cs typeface="Raleway"/>
                <a:sym typeface="Raleway"/>
              </a:rPr>
              <a:t>Segundo o estudo da Opion Box 2024.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53710" y="5736341"/>
            <a:ext cx="506355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Aumento de 40% da taxa de recompra em lojistas que operam com NPS estruturado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53710" y="7286932"/>
            <a:ext cx="506355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Dos promotores indicam ao menos um pessoa para a mesma loja nos 6 meses seguintes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27125" y="4678345"/>
            <a:ext cx="837206" cy="783929"/>
          </a:xfrm>
          <a:custGeom>
            <a:avLst/>
            <a:gdLst/>
            <a:ahLst/>
            <a:cxnLst/>
            <a:rect r="r" b="b" t="t" l="l"/>
            <a:pathLst>
              <a:path h="783929" w="837206">
                <a:moveTo>
                  <a:pt x="0" y="0"/>
                </a:moveTo>
                <a:lnTo>
                  <a:pt x="837206" y="0"/>
                </a:lnTo>
                <a:lnTo>
                  <a:pt x="837206" y="783929"/>
                </a:lnTo>
                <a:lnTo>
                  <a:pt x="0" y="78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57927" y="643511"/>
            <a:ext cx="12772145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2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_AS PRINCIPAIS </a:t>
            </a:r>
            <a:r>
              <a:rPr lang="en-US" b="true" sz="6000" strike="noStrike" u="none">
                <a:solidFill>
                  <a:srgbClr val="FF2828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PROBLEMATICAS</a:t>
            </a:r>
            <a:r>
              <a:rPr lang="en-US" b="true" sz="6000" strike="noStrike" u="non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PARA SATISFAÇÃO DO CLIENTE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3531" y="4797856"/>
            <a:ext cx="459208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Atrasos na entrega do produto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527125" y="6711606"/>
            <a:ext cx="837206" cy="783929"/>
          </a:xfrm>
          <a:custGeom>
            <a:avLst/>
            <a:gdLst/>
            <a:ahLst/>
            <a:cxnLst/>
            <a:rect r="r" b="b" t="t" l="l"/>
            <a:pathLst>
              <a:path h="783929" w="837206">
                <a:moveTo>
                  <a:pt x="0" y="0"/>
                </a:moveTo>
                <a:lnTo>
                  <a:pt x="837206" y="0"/>
                </a:lnTo>
                <a:lnTo>
                  <a:pt x="837206" y="783929"/>
                </a:lnTo>
                <a:lnTo>
                  <a:pt x="0" y="78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693531" y="6822583"/>
            <a:ext cx="43309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Baixa qualidade do atendimento ao cliente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134006" y="4686879"/>
            <a:ext cx="837206" cy="783929"/>
          </a:xfrm>
          <a:custGeom>
            <a:avLst/>
            <a:gdLst/>
            <a:ahLst/>
            <a:cxnLst/>
            <a:rect r="r" b="b" t="t" l="l"/>
            <a:pathLst>
              <a:path h="783929" w="837206">
                <a:moveTo>
                  <a:pt x="0" y="0"/>
                </a:moveTo>
                <a:lnTo>
                  <a:pt x="837206" y="0"/>
                </a:lnTo>
                <a:lnTo>
                  <a:pt x="837206" y="783930"/>
                </a:lnTo>
                <a:lnTo>
                  <a:pt x="0" y="783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295062" y="4789322"/>
            <a:ext cx="471076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Múltiplos contatos com o suporte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134006" y="6711606"/>
            <a:ext cx="837206" cy="783929"/>
          </a:xfrm>
          <a:custGeom>
            <a:avLst/>
            <a:gdLst/>
            <a:ahLst/>
            <a:cxnLst/>
            <a:rect r="r" b="b" t="t" l="l"/>
            <a:pathLst>
              <a:path h="783929" w="837206">
                <a:moveTo>
                  <a:pt x="0" y="0"/>
                </a:moveTo>
                <a:lnTo>
                  <a:pt x="837206" y="0"/>
                </a:lnTo>
                <a:lnTo>
                  <a:pt x="837206" y="783929"/>
                </a:lnTo>
                <a:lnTo>
                  <a:pt x="0" y="78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295062" y="6822583"/>
            <a:ext cx="515301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Alto tempo para resolução de problemas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14715"/>
            <a:ext cx="6040896" cy="3009464"/>
          </a:xfrm>
          <a:custGeom>
            <a:avLst/>
            <a:gdLst/>
            <a:ahLst/>
            <a:cxnLst/>
            <a:rect r="r" b="b" t="t" l="l"/>
            <a:pathLst>
              <a:path h="3009464" w="6040896">
                <a:moveTo>
                  <a:pt x="0" y="0"/>
                </a:moveTo>
                <a:lnTo>
                  <a:pt x="6040896" y="0"/>
                </a:lnTo>
                <a:lnTo>
                  <a:pt x="6040896" y="3009465"/>
                </a:lnTo>
                <a:lnTo>
                  <a:pt x="0" y="3009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1215" y="726200"/>
            <a:ext cx="1242556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_IMPACTOS PARA A EMPRESA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7352" y="3504507"/>
            <a:ext cx="4763593" cy="229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2372" spc="16">
                <a:solidFill>
                  <a:srgbClr val="FF282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QUEDA DE RECEITA</a:t>
            </a:r>
          </a:p>
          <a:p>
            <a:pPr algn="ctr">
              <a:lnSpc>
                <a:spcPts val="2894"/>
              </a:lnSpc>
            </a:pPr>
          </a:p>
          <a:p>
            <a:pPr algn="ctr">
              <a:lnSpc>
                <a:spcPts val="2440"/>
              </a:lnSpc>
            </a:pPr>
            <a:r>
              <a:rPr lang="en-US" b="true" sz="2000" spc="1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CRESCENTE DOS DETRATORES E QUEDA NA IMAGEM DA EMPRESA, AFETA DIRETAMENTE A RECEITA DA EMPRESA E NOVOS NEGÓCIOS.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18404" y="2814715"/>
            <a:ext cx="6040896" cy="3009464"/>
          </a:xfrm>
          <a:custGeom>
            <a:avLst/>
            <a:gdLst/>
            <a:ahLst/>
            <a:cxnLst/>
            <a:rect r="r" b="b" t="t" l="l"/>
            <a:pathLst>
              <a:path h="3009464" w="6040896">
                <a:moveTo>
                  <a:pt x="0" y="0"/>
                </a:moveTo>
                <a:lnTo>
                  <a:pt x="6040896" y="0"/>
                </a:lnTo>
                <a:lnTo>
                  <a:pt x="6040896" y="3009465"/>
                </a:lnTo>
                <a:lnTo>
                  <a:pt x="0" y="3009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57056" y="3504507"/>
            <a:ext cx="4763593" cy="193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2372" spc="16">
                <a:solidFill>
                  <a:srgbClr val="FF282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QUEDA NA RECOMPRA</a:t>
            </a:r>
          </a:p>
          <a:p>
            <a:pPr algn="ctr">
              <a:lnSpc>
                <a:spcPts val="2894"/>
              </a:lnSpc>
            </a:pPr>
          </a:p>
          <a:p>
            <a:pPr algn="ctr" marL="0" indent="0" lvl="0">
              <a:lnSpc>
                <a:spcPts val="2440"/>
              </a:lnSpc>
              <a:spcBef>
                <a:spcPct val="0"/>
              </a:spcBef>
            </a:pPr>
            <a:r>
              <a:rPr lang="en-US" b="true" sz="2000" spc="1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DETRATORES TENDEM A NÃO VOLTAR A COMPRAR COM O ECOMMERCE, E ISSO PODE IMPACTAR FUTUROS CLIENTES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123552" y="6529030"/>
            <a:ext cx="6040896" cy="3009464"/>
          </a:xfrm>
          <a:custGeom>
            <a:avLst/>
            <a:gdLst/>
            <a:ahLst/>
            <a:cxnLst/>
            <a:rect r="r" b="b" t="t" l="l"/>
            <a:pathLst>
              <a:path h="3009464" w="6040896">
                <a:moveTo>
                  <a:pt x="0" y="0"/>
                </a:moveTo>
                <a:lnTo>
                  <a:pt x="6040896" y="0"/>
                </a:lnTo>
                <a:lnTo>
                  <a:pt x="6040896" y="3009464"/>
                </a:lnTo>
                <a:lnTo>
                  <a:pt x="0" y="3009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62204" y="7239471"/>
            <a:ext cx="4763593" cy="229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2372" spc="16">
                <a:solidFill>
                  <a:srgbClr val="FF282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AUMENTO DE RECLAMAÇÕES</a:t>
            </a:r>
          </a:p>
          <a:p>
            <a:pPr algn="ctr">
              <a:lnSpc>
                <a:spcPts val="2894"/>
              </a:lnSpc>
            </a:pPr>
          </a:p>
          <a:p>
            <a:pPr algn="ctr">
              <a:lnSpc>
                <a:spcPts val="2440"/>
              </a:lnSpc>
            </a:pPr>
            <a:r>
              <a:rPr lang="en-US" b="true" sz="2000" spc="1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AUMENTO DAS RECLAMAÇÕES EM CANAIS DE ATENDIMENTO E FORÚNS PUBLICOS, AFETANDO A IMAGEM E REPUTAÇÃO DA EMPRESA</a:t>
            </a:r>
            <a:r>
              <a:rPr lang="en-US" b="true" sz="2000" spc="1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.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7A3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85643" y="3462278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2" y="0"/>
                </a:lnTo>
                <a:lnTo>
                  <a:pt x="1335102" y="1335103"/>
                </a:lnTo>
                <a:lnTo>
                  <a:pt x="0" y="1335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63592" y="386341"/>
            <a:ext cx="15095708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_FATORES QUE IMPACTAM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 </a:t>
            </a:r>
            <a:r>
              <a:rPr lang="en-US" b="true" sz="5700">
                <a:solidFill>
                  <a:srgbClr val="00BF63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POSITIVAMENTE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 SATISFAÇÃO DO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2346" y="5230322"/>
            <a:ext cx="644169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SEM ATRASO NA ENTREGA DO PRODUTO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97229" y="6033343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2" y="0"/>
                </a:lnTo>
                <a:lnTo>
                  <a:pt x="1335102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3592" y="7689501"/>
            <a:ext cx="5602377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BOA QUALIDADE DO ATENDIMENTO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558697" y="5927830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3"/>
                </a:lnTo>
                <a:lnTo>
                  <a:pt x="0" y="1335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05401" y="7583989"/>
            <a:ext cx="644169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ALTA RESOLUTIVIDADE DO ATENDIMENTO AO CLIENTE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05287" y="3342797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3"/>
                </a:lnTo>
                <a:lnTo>
                  <a:pt x="0" y="1335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63592" y="386341"/>
            <a:ext cx="15095708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_FATORES QUE IMPACTAM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 </a:t>
            </a:r>
            <a:r>
              <a:rPr lang="en-US" b="true" sz="5700">
                <a:solidFill>
                  <a:srgbClr val="FF2828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NEGATIVAMENTE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 SATISFAÇÃO DO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1991" y="4991360"/>
            <a:ext cx="644169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ATRASO NA ENTREGA SUPERIOR A 3 DIAS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716888" y="6043602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3592" y="7765927"/>
            <a:ext cx="644169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BAIXA QUALIDADE DO ATENDIMENTO DE ACORDO COM CSAT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70901" y="6043602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817605" y="7765927"/>
            <a:ext cx="644169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MAIS DE 3 TENTATIVAS DE CONTATO PARA RESOLUÇÃO DE PROBLEMA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2698653"/>
            <a:ext cx="12550346" cy="6559647"/>
            <a:chOff x="0" y="0"/>
            <a:chExt cx="19050000" cy="995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01900" y="209042"/>
              <a:ext cx="14186915" cy="8502396"/>
            </a:xfrm>
            <a:custGeom>
              <a:avLst/>
              <a:gdLst/>
              <a:ahLst/>
              <a:cxnLst/>
              <a:rect r="r" b="b" t="t" l="l"/>
              <a:pathLst>
                <a:path h="8502396" w="14186915">
                  <a:moveTo>
                    <a:pt x="14186915" y="8502396"/>
                  </a:moveTo>
                  <a:lnTo>
                    <a:pt x="0" y="8502396"/>
                  </a:lnTo>
                  <a:lnTo>
                    <a:pt x="0" y="0"/>
                  </a:lnTo>
                  <a:lnTo>
                    <a:pt x="14186915" y="0"/>
                  </a:lnTo>
                  <a:lnTo>
                    <a:pt x="14186915" y="8502396"/>
                  </a:lnTo>
                  <a:close/>
                </a:path>
              </a:pathLst>
            </a:custGeom>
            <a:blipFill>
              <a:blip r:embed="rId3"/>
              <a:stretch>
                <a:fillRect l="-1332" t="0" r="-1332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19050000">
                  <a:moveTo>
                    <a:pt x="19050000" y="9956800"/>
                  </a:moveTo>
                  <a:lnTo>
                    <a:pt x="0" y="9956800"/>
                  </a:lnTo>
                  <a:lnTo>
                    <a:pt x="0" y="0"/>
                  </a:lnTo>
                  <a:lnTo>
                    <a:pt x="19050000" y="0"/>
                  </a:lnTo>
                  <a:lnTo>
                    <a:pt x="19050000" y="9956800"/>
                  </a:lnTo>
                  <a:close/>
                </a:path>
              </a:pathLst>
            </a:custGeom>
            <a:blipFill>
              <a:blip r:embed="rId4"/>
              <a:stretch>
                <a:fillRect l="-15" t="0" r="-1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82956" y="516389"/>
            <a:ext cx="12922088" cy="8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_INSIGHTS EXTRAÍDOS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DOS DADOS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71769" y="2698653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07144" y="4270331"/>
            <a:ext cx="5064352" cy="200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 SATISFAÇÃO DO CLIENTE COM O ATENDIMENTO RECEBIDO INFLUENCIA DIRETAMENTE EM SUA NOTA DO NPS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2698653"/>
            <a:ext cx="12550346" cy="6559647"/>
            <a:chOff x="0" y="0"/>
            <a:chExt cx="19050000" cy="995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01900" y="209042"/>
              <a:ext cx="14186915" cy="8502396"/>
            </a:xfrm>
            <a:custGeom>
              <a:avLst/>
              <a:gdLst/>
              <a:ahLst/>
              <a:cxnLst/>
              <a:rect r="r" b="b" t="t" l="l"/>
              <a:pathLst>
                <a:path h="8502396" w="14186915">
                  <a:moveTo>
                    <a:pt x="14186915" y="8502396"/>
                  </a:moveTo>
                  <a:lnTo>
                    <a:pt x="0" y="8502396"/>
                  </a:lnTo>
                  <a:lnTo>
                    <a:pt x="0" y="0"/>
                  </a:lnTo>
                  <a:lnTo>
                    <a:pt x="14186915" y="0"/>
                  </a:lnTo>
                  <a:lnTo>
                    <a:pt x="14186915" y="8502396"/>
                  </a:lnTo>
                  <a:close/>
                </a:path>
              </a:pathLst>
            </a:custGeom>
            <a:blipFill>
              <a:blip r:embed="rId2"/>
              <a:stretch>
                <a:fillRect l="-681" t="0" r="-68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19050000">
                  <a:moveTo>
                    <a:pt x="19050000" y="9956800"/>
                  </a:moveTo>
                  <a:lnTo>
                    <a:pt x="0" y="9956800"/>
                  </a:lnTo>
                  <a:lnTo>
                    <a:pt x="0" y="0"/>
                  </a:lnTo>
                  <a:lnTo>
                    <a:pt x="19050000" y="0"/>
                  </a:lnTo>
                  <a:lnTo>
                    <a:pt x="19050000" y="995680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571769" y="2698653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07144" y="4270331"/>
            <a:ext cx="5064352" cy="200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MAIS DE 3 TENTATIVAS DE CONTATO PARA RESOLUÇÃO DE PROBLEMA DIMINUI DRASTICAMENTE A QUANTIDADE PROMOTORES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2956" y="516389"/>
            <a:ext cx="12922088" cy="8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_INSIGHTS EXTRAÍDOS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DOS DADOS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2698653"/>
            <a:ext cx="12550346" cy="6559647"/>
            <a:chOff x="0" y="0"/>
            <a:chExt cx="19050000" cy="995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01900" y="209042"/>
              <a:ext cx="14186915" cy="8502396"/>
            </a:xfrm>
            <a:custGeom>
              <a:avLst/>
              <a:gdLst/>
              <a:ahLst/>
              <a:cxnLst/>
              <a:rect r="r" b="b" t="t" l="l"/>
              <a:pathLst>
                <a:path h="8502396" w="14186915">
                  <a:moveTo>
                    <a:pt x="14186915" y="8502396"/>
                  </a:moveTo>
                  <a:lnTo>
                    <a:pt x="0" y="8502396"/>
                  </a:lnTo>
                  <a:lnTo>
                    <a:pt x="0" y="0"/>
                  </a:lnTo>
                  <a:lnTo>
                    <a:pt x="14186915" y="0"/>
                  </a:lnTo>
                  <a:lnTo>
                    <a:pt x="14186915" y="8502396"/>
                  </a:lnTo>
                  <a:close/>
                </a:path>
              </a:pathLst>
            </a:custGeom>
            <a:blipFill>
              <a:blip r:embed="rId2"/>
              <a:stretch>
                <a:fillRect l="-256" t="0" r="-256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19050000">
                  <a:moveTo>
                    <a:pt x="19050000" y="9956800"/>
                  </a:moveTo>
                  <a:lnTo>
                    <a:pt x="0" y="9956800"/>
                  </a:lnTo>
                  <a:lnTo>
                    <a:pt x="0" y="0"/>
                  </a:lnTo>
                  <a:lnTo>
                    <a:pt x="19050000" y="0"/>
                  </a:lnTo>
                  <a:lnTo>
                    <a:pt x="19050000" y="995680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528727" y="2698653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99539" y="4390257"/>
            <a:ext cx="5193478" cy="200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b="true" sz="2599" spc="18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ATRASO NA ENTREGA SUPERIOR A 3 DIAS É UM DOS PRINCIPAIS CAUSADORES DE QUEDA NOS NÚMEROS DE PROMOTORES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2956" y="516389"/>
            <a:ext cx="12922088" cy="8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_INSIGHTS EXTRAÍDOS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DOS DADOS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2698653"/>
            <a:ext cx="12550346" cy="6559647"/>
            <a:chOff x="0" y="0"/>
            <a:chExt cx="19050000" cy="995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01900" y="209042"/>
              <a:ext cx="14186915" cy="8502396"/>
            </a:xfrm>
            <a:custGeom>
              <a:avLst/>
              <a:gdLst/>
              <a:ahLst/>
              <a:cxnLst/>
              <a:rect r="r" b="b" t="t" l="l"/>
              <a:pathLst>
                <a:path h="8502396" w="14186915">
                  <a:moveTo>
                    <a:pt x="14186915" y="8502396"/>
                  </a:moveTo>
                  <a:lnTo>
                    <a:pt x="0" y="8502396"/>
                  </a:lnTo>
                  <a:lnTo>
                    <a:pt x="0" y="0"/>
                  </a:lnTo>
                  <a:lnTo>
                    <a:pt x="14186915" y="0"/>
                  </a:lnTo>
                  <a:lnTo>
                    <a:pt x="14186915" y="8502396"/>
                  </a:lnTo>
                  <a:close/>
                </a:path>
              </a:pathLst>
            </a:custGeom>
            <a:blipFill>
              <a:blip r:embed="rId2"/>
              <a:stretch>
                <a:fillRect l="-468" t="0" r="-46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19050000">
                  <a:moveTo>
                    <a:pt x="19050000" y="9956800"/>
                  </a:moveTo>
                  <a:lnTo>
                    <a:pt x="0" y="9956800"/>
                  </a:lnTo>
                  <a:lnTo>
                    <a:pt x="0" y="0"/>
                  </a:lnTo>
                  <a:lnTo>
                    <a:pt x="19050000" y="0"/>
                  </a:lnTo>
                  <a:lnTo>
                    <a:pt x="19050000" y="995680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906447" y="2698653"/>
            <a:ext cx="1011530" cy="1011530"/>
          </a:xfrm>
          <a:custGeom>
            <a:avLst/>
            <a:gdLst/>
            <a:ahLst/>
            <a:cxnLst/>
            <a:rect r="r" b="b" t="t" l="l"/>
            <a:pathLst>
              <a:path h="1011530" w="1011530">
                <a:moveTo>
                  <a:pt x="0" y="0"/>
                </a:moveTo>
                <a:lnTo>
                  <a:pt x="1011531" y="0"/>
                </a:lnTo>
                <a:lnTo>
                  <a:pt x="1011531" y="1011530"/>
                </a:lnTo>
                <a:lnTo>
                  <a:pt x="0" y="1011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71962" y="4001251"/>
            <a:ext cx="4880501" cy="9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  <a:spcBef>
                <a:spcPct val="0"/>
              </a:spcBef>
            </a:pPr>
            <a:r>
              <a:rPr lang="en-US" b="true" sz="1969" spc="13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ALTO NÚMERO DE RECLAMAÇÕES É UM GRANDE INDÍCIO DE UM POTENCIAL DETRATOR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2956" y="516389"/>
            <a:ext cx="12922088" cy="88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_INSIGHTS EXTRAÍDOS</a:t>
            </a: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b="true" sz="57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DOS DADOS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418489" y="3908051"/>
            <a:ext cx="3880781" cy="3894945"/>
          </a:xfrm>
          <a:custGeom>
            <a:avLst/>
            <a:gdLst/>
            <a:ahLst/>
            <a:cxnLst/>
            <a:rect r="r" b="b" t="t" l="l"/>
            <a:pathLst>
              <a:path h="3894945" w="3880781">
                <a:moveTo>
                  <a:pt x="0" y="0"/>
                </a:moveTo>
                <a:lnTo>
                  <a:pt x="3880782" y="0"/>
                </a:lnTo>
                <a:lnTo>
                  <a:pt x="3880782" y="3894944"/>
                </a:lnTo>
                <a:lnTo>
                  <a:pt x="0" y="3894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82956" y="516389"/>
            <a:ext cx="12922088" cy="175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4"/>
              </a:lnSpc>
              <a:spcBef>
                <a:spcPct val="0"/>
              </a:spcBef>
            </a:pPr>
            <a:r>
              <a:rPr lang="en-US" b="true" sz="57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_COMO SABER QUAIS CLIENTES SÃO POTENCIAIS DETRATORES?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4656" y="3850901"/>
            <a:ext cx="7663359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 nosso modelo desenvolvido sob medida para está dor, buscar responder essa grande pergunta e trazer maior clareza nas decisões estratégicas, visando direcionar o foco para os clientes com grande potencial de se tornar um detrator </a:t>
            </a:r>
            <a:r>
              <a:rPr lang="en-US" sz="2800" strike="noStrike" u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 base em dados e tecnologia.</a:t>
            </a:r>
          </a:p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02942" y="5052829"/>
            <a:ext cx="2329543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+77</a:t>
            </a:r>
            <a:r>
              <a:rPr lang="en-US" b="true" sz="6999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32485" y="4699452"/>
            <a:ext cx="4219952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77% taxa de acerto geral do modelo, incluindo detratores, neutros e promotores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82690" y="5052829"/>
            <a:ext cx="2442195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  <a:spcBef>
                <a:spcPct val="0"/>
              </a:spcBef>
            </a:pPr>
            <a:r>
              <a:rPr lang="en-US" b="true" sz="6999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+90%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4886" y="4918527"/>
            <a:ext cx="421995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90% de taxa de acerto em classificar detratores corretamente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67746" y="575444"/>
            <a:ext cx="14277092" cy="164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8"/>
              </a:lnSpc>
              <a:spcBef>
                <a:spcPct val="0"/>
              </a:spcBef>
            </a:pPr>
            <a:r>
              <a:rPr lang="en-US" b="true" sz="5400">
                <a:solidFill>
                  <a:srgbClr val="FFB8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_RESULTADO OBTIDO EM BACKTEST DEMOSTROU POTENCIAL NA SOLUÇÃO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282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90540" y="3676448"/>
            <a:ext cx="1335103" cy="1265604"/>
          </a:xfrm>
          <a:custGeom>
            <a:avLst/>
            <a:gdLst/>
            <a:ahLst/>
            <a:cxnLst/>
            <a:rect r="r" b="b" t="t" l="l"/>
            <a:pathLst>
              <a:path h="1265604" w="1335103">
                <a:moveTo>
                  <a:pt x="0" y="0"/>
                </a:moveTo>
                <a:lnTo>
                  <a:pt x="1335103" y="0"/>
                </a:lnTo>
                <a:lnTo>
                  <a:pt x="1335103" y="1265604"/>
                </a:lnTo>
                <a:lnTo>
                  <a:pt x="0" y="1265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852" y="5844993"/>
            <a:ext cx="1384791" cy="1533712"/>
          </a:xfrm>
          <a:custGeom>
            <a:avLst/>
            <a:gdLst/>
            <a:ahLst/>
            <a:cxnLst/>
            <a:rect r="r" b="b" t="t" l="l"/>
            <a:pathLst>
              <a:path h="1533712" w="1384791">
                <a:moveTo>
                  <a:pt x="0" y="0"/>
                </a:moveTo>
                <a:lnTo>
                  <a:pt x="1384791" y="0"/>
                </a:lnTo>
                <a:lnTo>
                  <a:pt x="1384791" y="1533711"/>
                </a:lnTo>
                <a:lnTo>
                  <a:pt x="0" y="1533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33987" y="6043602"/>
            <a:ext cx="1335103" cy="1335103"/>
          </a:xfrm>
          <a:custGeom>
            <a:avLst/>
            <a:gdLst/>
            <a:ahLst/>
            <a:cxnLst/>
            <a:rect r="r" b="b" t="t" l="l"/>
            <a:pathLst>
              <a:path h="1335103" w="1335103">
                <a:moveTo>
                  <a:pt x="0" y="0"/>
                </a:moveTo>
                <a:lnTo>
                  <a:pt x="1335103" y="0"/>
                </a:lnTo>
                <a:lnTo>
                  <a:pt x="1335103" y="1335102"/>
                </a:lnTo>
                <a:lnTo>
                  <a:pt x="0" y="13351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33987" y="3559739"/>
            <a:ext cx="1335103" cy="1313256"/>
          </a:xfrm>
          <a:custGeom>
            <a:avLst/>
            <a:gdLst/>
            <a:ahLst/>
            <a:cxnLst/>
            <a:rect r="r" b="b" t="t" l="l"/>
            <a:pathLst>
              <a:path h="1313256" w="1335103">
                <a:moveTo>
                  <a:pt x="0" y="0"/>
                </a:moveTo>
                <a:lnTo>
                  <a:pt x="1335103" y="0"/>
                </a:lnTo>
                <a:lnTo>
                  <a:pt x="1335103" y="1313255"/>
                </a:lnTo>
                <a:lnTo>
                  <a:pt x="0" y="13132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3592" y="386341"/>
            <a:ext cx="15095708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_LIMITAÇÕES E RISCOS DA ESTRATÉGIA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2318" y="3978669"/>
            <a:ext cx="6441695" cy="6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QUALIDADE DOS DADOS DISPONÍVEIS PARA CONSTRUÇÃO DOS MODELOS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2318" y="6380572"/>
            <a:ext cx="6441695" cy="6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FALTA DE INFORMAÇÕES E ENRIQUECIMENTO DE DADOS PARA COMPLEMENTAR BASE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02465" y="3676448"/>
            <a:ext cx="6441695" cy="132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FALSOS POSITIVOS GERADOS PELO MODELO DE PREDIÇÃO DE DETRATORES, QUE PODEM GERAR AUMENTO DE INTERAÇÃO COM CLIENTE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2465" y="6213885"/>
            <a:ext cx="6441695" cy="6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AUSÊNCIA DE PROCESSOS E FOCO BEM DEFINIDOS PARA ATINGIR CAUSA RAIZ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1480" y="3763600"/>
            <a:ext cx="1424676" cy="1424676"/>
          </a:xfrm>
          <a:custGeom>
            <a:avLst/>
            <a:gdLst/>
            <a:ahLst/>
            <a:cxnLst/>
            <a:rect r="r" b="b" t="t" l="l"/>
            <a:pathLst>
              <a:path h="1424676" w="1424676">
                <a:moveTo>
                  <a:pt x="0" y="0"/>
                </a:moveTo>
                <a:lnTo>
                  <a:pt x="1424677" y="0"/>
                </a:lnTo>
                <a:lnTo>
                  <a:pt x="1424677" y="1424676"/>
                </a:lnTo>
                <a:lnTo>
                  <a:pt x="0" y="1424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5088" y="6189109"/>
            <a:ext cx="1377462" cy="1377462"/>
          </a:xfrm>
          <a:custGeom>
            <a:avLst/>
            <a:gdLst/>
            <a:ahLst/>
            <a:cxnLst/>
            <a:rect r="r" b="b" t="t" l="l"/>
            <a:pathLst>
              <a:path h="1377462" w="1377462">
                <a:moveTo>
                  <a:pt x="0" y="0"/>
                </a:moveTo>
                <a:lnTo>
                  <a:pt x="1377462" y="0"/>
                </a:lnTo>
                <a:lnTo>
                  <a:pt x="1377462" y="1377463"/>
                </a:lnTo>
                <a:lnTo>
                  <a:pt x="0" y="1377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38842" y="3515763"/>
            <a:ext cx="1330248" cy="1457443"/>
          </a:xfrm>
          <a:custGeom>
            <a:avLst/>
            <a:gdLst/>
            <a:ahLst/>
            <a:cxnLst/>
            <a:rect r="r" b="b" t="t" l="l"/>
            <a:pathLst>
              <a:path h="1457443" w="1330248">
                <a:moveTo>
                  <a:pt x="0" y="0"/>
                </a:moveTo>
                <a:lnTo>
                  <a:pt x="1330248" y="0"/>
                </a:lnTo>
                <a:lnTo>
                  <a:pt x="1330248" y="1457443"/>
                </a:lnTo>
                <a:lnTo>
                  <a:pt x="0" y="1457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38842" y="6189109"/>
            <a:ext cx="1330248" cy="1352378"/>
          </a:xfrm>
          <a:custGeom>
            <a:avLst/>
            <a:gdLst/>
            <a:ahLst/>
            <a:cxnLst/>
            <a:rect r="r" b="b" t="t" l="l"/>
            <a:pathLst>
              <a:path h="1352378" w="1330248">
                <a:moveTo>
                  <a:pt x="0" y="0"/>
                </a:moveTo>
                <a:lnTo>
                  <a:pt x="1330248" y="0"/>
                </a:lnTo>
                <a:lnTo>
                  <a:pt x="1330248" y="1352378"/>
                </a:lnTo>
                <a:lnTo>
                  <a:pt x="0" y="1352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90988" y="394596"/>
            <a:ext cx="1509570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_RECOMENDAÇÕES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2318" y="3978669"/>
            <a:ext cx="6441695" cy="99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FOCO NO ATENDIMENTO PÓS VENDAS EM CASOS PREDITOS PELO MODELO COMO MAIOR CHANCE DE SE TORNAR DETRATOR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2318" y="6380572"/>
            <a:ext cx="6441695" cy="99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CLUSTERIZAÇÃO DE CLIENTES PARA PERSONALIZAÇÃO AVANÇADA DE ATENDIMENTO AO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00796" y="3978669"/>
            <a:ext cx="6441695" cy="6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CALLBACK E ACOMPANHAMENTO PRÓXIMO DE CASOS COM CSAT BAIXO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2465" y="6213885"/>
            <a:ext cx="6441695" cy="132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b="true" sz="2199" spc="15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MELHORIA DA DISTRIBUIÇÃO LOGÍSTICA USANDO DADOS PARA ANTECIPAR POSSÍVEIS ATRASOS EM REGIÕES COM MAIOR INCIDÊNCIA DE ATRASOS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767" y="3327948"/>
            <a:ext cx="13102996" cy="154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VENHA CONHECER MAIS SOBRE A NOSSAS RECOMENDAÇÕES 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0767" y="4820198"/>
            <a:ext cx="14036381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77777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Github: https://github.com/Tech-Challenge-AI-Scientist/Tech_Challenge_Fase_1.git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58800" y="1955453"/>
            <a:ext cx="16117421" cy="10666802"/>
          </a:xfrm>
          <a:custGeom>
            <a:avLst/>
            <a:gdLst/>
            <a:ahLst/>
            <a:cxnLst/>
            <a:rect r="r" b="b" t="t" l="l"/>
            <a:pathLst>
              <a:path h="10666802" w="16117421">
                <a:moveTo>
                  <a:pt x="0" y="0"/>
                </a:moveTo>
                <a:lnTo>
                  <a:pt x="16117421" y="0"/>
                </a:lnTo>
                <a:lnTo>
                  <a:pt x="16117421" y="10666803"/>
                </a:lnTo>
                <a:lnTo>
                  <a:pt x="0" y="1066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DAHHVtBGsGA</dc:identifier>
  <dcterms:modified xsi:type="dcterms:W3CDTF">2011-08-01T06:04:30Z</dcterms:modified>
  <cp:revision>1</cp:revision>
  <dc:title>Tech Challenge</dc:title>
</cp:coreProperties>
</file>